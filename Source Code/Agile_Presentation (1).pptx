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fld id="{32637B58-87C1-446D-BDA9-B06F4BCF7782}" type="datetimeFigureOut">
              <a:rPr lang="en-US" smtClean="0"/>
              <a:t>12/12/2021</a:t>
            </a:fld>
            <a:endParaRPr lang="en-US"/>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263708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fld id="{32637B58-87C1-446D-BDA9-B06F4BCF7782}" type="datetimeFigureOut">
              <a:rPr lang="en-US" smtClean="0"/>
              <a:t>12/12/2021</a:t>
            </a:fld>
            <a:endParaRPr lang="en-US"/>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t>‹#›</a:t>
            </a:fld>
            <a:endParaRPr lang="en-US"/>
          </a:p>
        </p:txBody>
      </p:sp>
    </p:spTree>
    <p:extLst>
      <p:ext uri="{BB962C8B-B14F-4D97-AF65-F5344CB8AC3E}">
        <p14:creationId xmlns:p14="http://schemas.microsoft.com/office/powerpoint/2010/main" val="34695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fld id="{32637B58-87C1-446D-BDA9-B06F4BCF7782}" type="datetimeFigureOut">
              <a:rPr lang="en-US" smtClean="0"/>
              <a:t>12/12/2021</a:t>
            </a:fld>
            <a:endParaRPr lang="en-US"/>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110016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fld id="{32637B58-87C1-446D-BDA9-B06F4BCF7782}" type="datetimeFigureOut">
              <a:rPr lang="en-US" smtClean="0"/>
              <a:t>12/12/2021</a:t>
            </a:fld>
            <a:endParaRPr lang="en-US"/>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212128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fld id="{32637B58-87C1-446D-BDA9-B06F4BCF7782}" type="datetimeFigureOut">
              <a:rPr lang="en-US" smtClean="0"/>
              <a:t>12/12/2021</a:t>
            </a:fld>
            <a:endParaRPr lang="en-US"/>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695568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fld id="{32637B58-87C1-446D-BDA9-B06F4BCF7782}" type="datetimeFigureOut">
              <a:rPr lang="en-US" smtClean="0"/>
              <a:t>12/12/2021</a:t>
            </a:fld>
            <a:endParaRPr lang="en-US"/>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521571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fld id="{32637B58-87C1-446D-BDA9-B06F4BCF7782}" type="datetimeFigureOut">
              <a:rPr lang="en-US" smtClean="0"/>
              <a:t>12/12/2021</a:t>
            </a:fld>
            <a:endParaRPr lang="en-US"/>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733828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fld id="{32637B58-87C1-446D-BDA9-B06F4BCF7782}" type="datetimeFigureOut">
              <a:rPr lang="en-US" smtClean="0"/>
              <a:t>12/12/2021</a:t>
            </a:fld>
            <a:endParaRPr lang="en-US"/>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977714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fld id="{32637B58-87C1-446D-BDA9-B06F4BCF7782}" type="datetimeFigureOut">
              <a:rPr lang="en-US" smtClean="0"/>
              <a:t>12/12/2021</a:t>
            </a:fld>
            <a:endParaRPr lang="en-US"/>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647360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fld id="{32637B58-87C1-446D-BDA9-B06F4BCF7782}" type="datetimeFigureOut">
              <a:rPr lang="en-US" smtClean="0"/>
              <a:t>12/12/2021</a:t>
            </a:fld>
            <a:endParaRPr lang="en-US"/>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20054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fld id="{32637B58-87C1-446D-BDA9-B06F4BCF7782}" type="datetimeFigureOut">
              <a:rPr lang="en-US" smtClean="0"/>
              <a:t>12/12/2021</a:t>
            </a:fld>
            <a:endParaRPr lang="en-US"/>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82586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fld id="{32637B58-87C1-446D-BDA9-B06F4BCF7782}" type="datetimeFigureOut">
              <a:rPr lang="en-US" smtClean="0"/>
              <a:pPr/>
              <a:t>12/12/2021</a:t>
            </a:fld>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3377632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9E7C-44B9-4F9A-9AF3-885E7A66EF9E}"/>
              </a:ext>
            </a:extLst>
          </p:cNvPr>
          <p:cNvSpPr>
            <a:spLocks noGrp="1"/>
          </p:cNvSpPr>
          <p:nvPr>
            <p:ph type="ctrTitle"/>
          </p:nvPr>
        </p:nvSpPr>
        <p:spPr>
          <a:xfrm>
            <a:off x="1249326" y="919716"/>
            <a:ext cx="8369127" cy="3635031"/>
          </a:xfrm>
        </p:spPr>
        <p:txBody>
          <a:bodyPr/>
          <a:lstStyle/>
          <a:p>
            <a:r>
              <a:rPr lang="en-US" dirty="0"/>
              <a:t>Agile Presentation</a:t>
            </a:r>
          </a:p>
        </p:txBody>
      </p:sp>
      <p:sp>
        <p:nvSpPr>
          <p:cNvPr id="3" name="Subtitle 2">
            <a:extLst>
              <a:ext uri="{FF2B5EF4-FFF2-40B4-BE49-F238E27FC236}">
                <a16:creationId xmlns:a16="http://schemas.microsoft.com/office/drawing/2014/main" id="{6D5BDDD9-5DF7-4D82-A8AC-1C996DD7284F}"/>
              </a:ext>
            </a:extLst>
          </p:cNvPr>
          <p:cNvSpPr>
            <a:spLocks noGrp="1"/>
          </p:cNvSpPr>
          <p:nvPr>
            <p:ph type="subTitle" idx="1"/>
          </p:nvPr>
        </p:nvSpPr>
        <p:spPr/>
        <p:txBody>
          <a:bodyPr>
            <a:normAutofit fontScale="92500" lnSpcReduction="10000"/>
          </a:bodyPr>
          <a:lstStyle/>
          <a:p>
            <a:r>
              <a:rPr lang="en-US" dirty="0"/>
              <a:t>SNHU CS 250</a:t>
            </a:r>
          </a:p>
          <a:p>
            <a:r>
              <a:rPr lang="en-US" dirty="0" err="1"/>
              <a:t>keNNEDY</a:t>
            </a:r>
            <a:r>
              <a:rPr lang="en-US" dirty="0"/>
              <a:t> Uzoho</a:t>
            </a:r>
          </a:p>
          <a:p>
            <a:r>
              <a:rPr lang="en-US" dirty="0"/>
              <a:t>12/12/2021</a:t>
            </a:r>
          </a:p>
        </p:txBody>
      </p:sp>
    </p:spTree>
    <p:extLst>
      <p:ext uri="{BB962C8B-B14F-4D97-AF65-F5344CB8AC3E}">
        <p14:creationId xmlns:p14="http://schemas.microsoft.com/office/powerpoint/2010/main" val="1637841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90C39-E65D-4E0E-8717-248FF5E3A08A}"/>
              </a:ext>
            </a:extLst>
          </p:cNvPr>
          <p:cNvSpPr>
            <a:spLocks noGrp="1"/>
          </p:cNvSpPr>
          <p:nvPr>
            <p:ph type="title"/>
          </p:nvPr>
        </p:nvSpPr>
        <p:spPr/>
        <p:txBody>
          <a:bodyPr/>
          <a:lstStyle/>
          <a:p>
            <a:r>
              <a:rPr lang="en-US" dirty="0"/>
              <a:t>Various Roles of a Scrum Team</a:t>
            </a:r>
          </a:p>
        </p:txBody>
      </p:sp>
      <p:sp>
        <p:nvSpPr>
          <p:cNvPr id="3" name="Content Placeholder 2">
            <a:extLst>
              <a:ext uri="{FF2B5EF4-FFF2-40B4-BE49-F238E27FC236}">
                <a16:creationId xmlns:a16="http://schemas.microsoft.com/office/drawing/2014/main" id="{A5567014-120A-4DD1-AEF4-740E5A7094EA}"/>
              </a:ext>
            </a:extLst>
          </p:cNvPr>
          <p:cNvSpPr>
            <a:spLocks noGrp="1"/>
          </p:cNvSpPr>
          <p:nvPr>
            <p:ph idx="1"/>
          </p:nvPr>
        </p:nvSpPr>
        <p:spPr>
          <a:xfrm>
            <a:off x="914400" y="1919672"/>
            <a:ext cx="9905715" cy="4239587"/>
          </a:xfrm>
        </p:spPr>
        <p:txBody>
          <a:bodyPr>
            <a:normAutofit fontScale="92500" lnSpcReduction="10000"/>
          </a:bodyPr>
          <a:lstStyle/>
          <a:p>
            <a:pPr marL="0" indent="0">
              <a:buNone/>
            </a:pPr>
            <a:r>
              <a:rPr lang="en-US" dirty="0"/>
              <a:t>There are various roles in a scrum team, here is a description of each role in a typical scrum team</a:t>
            </a:r>
          </a:p>
          <a:p>
            <a:pPr marL="0" indent="0">
              <a:buNone/>
            </a:pPr>
            <a:r>
              <a:rPr lang="en-US" b="1" dirty="0"/>
              <a:t>MANAGEMENT TEAM</a:t>
            </a:r>
          </a:p>
          <a:p>
            <a:r>
              <a:rPr lang="en-US" b="1" dirty="0"/>
              <a:t>Scrum Master: </a:t>
            </a:r>
            <a:r>
              <a:rPr lang="en-US" dirty="0"/>
              <a:t>This person holds the entire team together and ensures that the Scrum process is executed properly. </a:t>
            </a:r>
          </a:p>
          <a:p>
            <a:r>
              <a:rPr lang="en-US" b="1" dirty="0"/>
              <a:t>Product Owner: </a:t>
            </a:r>
            <a:r>
              <a:rPr lang="en-US" dirty="0"/>
              <a:t>This person presents the client’s interest and is committed to providing a value working product. </a:t>
            </a:r>
            <a:endParaRPr lang="en-US" b="1" dirty="0"/>
          </a:p>
          <a:p>
            <a:pPr marL="0" indent="0">
              <a:buNone/>
            </a:pPr>
            <a:r>
              <a:rPr lang="en-US" b="1" dirty="0"/>
              <a:t>DEVELOPMENT TEAM</a:t>
            </a:r>
          </a:p>
          <a:p>
            <a:r>
              <a:rPr lang="en-US" b="1" dirty="0"/>
              <a:t>Tester: </a:t>
            </a:r>
            <a:r>
              <a:rPr lang="en-US" dirty="0"/>
              <a:t>Test for quality assurance in the development process</a:t>
            </a:r>
          </a:p>
          <a:p>
            <a:r>
              <a:rPr lang="en-US" b="1" dirty="0"/>
              <a:t>Developer: </a:t>
            </a:r>
            <a:r>
              <a:rPr lang="en-US" dirty="0"/>
              <a:t>Writes code for project features and functions. </a:t>
            </a:r>
            <a:endParaRPr lang="en-US" b="1" dirty="0"/>
          </a:p>
          <a:p>
            <a:endParaRPr lang="en-US" dirty="0"/>
          </a:p>
          <a:p>
            <a:endParaRPr lang="en-US" dirty="0"/>
          </a:p>
          <a:p>
            <a:endParaRPr lang="en-US" dirty="0"/>
          </a:p>
        </p:txBody>
      </p:sp>
    </p:spTree>
    <p:extLst>
      <p:ext uri="{BB962C8B-B14F-4D97-AF65-F5344CB8AC3E}">
        <p14:creationId xmlns:p14="http://schemas.microsoft.com/office/powerpoint/2010/main" val="3979028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8EDBA-6AA6-4E26-8D41-C0161CAC71D4}"/>
              </a:ext>
            </a:extLst>
          </p:cNvPr>
          <p:cNvSpPr>
            <a:spLocks noGrp="1"/>
          </p:cNvSpPr>
          <p:nvPr>
            <p:ph type="title"/>
          </p:nvPr>
        </p:nvSpPr>
        <p:spPr/>
        <p:txBody>
          <a:bodyPr>
            <a:normAutofit fontScale="90000"/>
          </a:bodyPr>
          <a:lstStyle/>
          <a:p>
            <a:r>
              <a:rPr lang="en-US" dirty="0"/>
              <a:t>Software Development Life Cycle:- Agile Method</a:t>
            </a:r>
            <a:br>
              <a:rPr lang="en-US" dirty="0"/>
            </a:br>
            <a:endParaRPr lang="en-US" dirty="0"/>
          </a:p>
        </p:txBody>
      </p:sp>
      <p:sp>
        <p:nvSpPr>
          <p:cNvPr id="3" name="Content Placeholder 2">
            <a:extLst>
              <a:ext uri="{FF2B5EF4-FFF2-40B4-BE49-F238E27FC236}">
                <a16:creationId xmlns:a16="http://schemas.microsoft.com/office/drawing/2014/main" id="{4F3E69F3-1CF9-4692-9681-6E6A20E352B4}"/>
              </a:ext>
            </a:extLst>
          </p:cNvPr>
          <p:cNvSpPr>
            <a:spLocks noGrp="1"/>
          </p:cNvSpPr>
          <p:nvPr>
            <p:ph idx="1"/>
          </p:nvPr>
        </p:nvSpPr>
        <p:spPr/>
        <p:txBody>
          <a:bodyPr>
            <a:normAutofit fontScale="77500" lnSpcReduction="20000"/>
          </a:bodyPr>
          <a:lstStyle/>
          <a:p>
            <a:pPr algn="just"/>
            <a:r>
              <a:rPr lang="en-US" b="1" dirty="0"/>
              <a:t>Product Backlog: </a:t>
            </a:r>
            <a:r>
              <a:rPr lang="en-US" dirty="0"/>
              <a:t>A list developed by all team members, it contains features, tasks to be implemented, and the list is listed by priority. </a:t>
            </a:r>
          </a:p>
          <a:p>
            <a:pPr algn="just"/>
            <a:r>
              <a:rPr lang="en-US" b="1" dirty="0"/>
              <a:t>Sprint Planning and Backlog Creation: </a:t>
            </a:r>
            <a:r>
              <a:rPr lang="en-US" dirty="0"/>
              <a:t>All backlogs are placed to a specific sprint; each sprint has a priority number and time duration. </a:t>
            </a:r>
          </a:p>
          <a:p>
            <a:pPr algn="just"/>
            <a:r>
              <a:rPr lang="en-US" b="1" dirty="0"/>
              <a:t>Sprint/Daily Meetings: </a:t>
            </a:r>
            <a:r>
              <a:rPr lang="en-US" dirty="0"/>
              <a:t>This is a 15 mins short daily meeting designed for a review of the past sprint and the day’s sprint goals to be achieved. Any roadblock and breakthroughs are shared among the team members. </a:t>
            </a:r>
          </a:p>
          <a:p>
            <a:pPr algn="just"/>
            <a:r>
              <a:rPr lang="en-US" b="1" dirty="0"/>
              <a:t>Product increment release and Sprint Review: </a:t>
            </a:r>
            <a:r>
              <a:rPr lang="en-US" dirty="0"/>
              <a:t>After multiple changes and versions of the project, the product owner is being presented with a complete product, at this time the product owner will allow for testing features and debugs. The agile method allows frequent product release, after each release the team will review the sprints of the release product. </a:t>
            </a:r>
          </a:p>
          <a:p>
            <a:pPr algn="just"/>
            <a:r>
              <a:rPr lang="en-US" b="1" dirty="0"/>
              <a:t>Retrospective and Next Sprint Planning: </a:t>
            </a:r>
            <a:r>
              <a:rPr lang="en-US" dirty="0"/>
              <a:t>The final step in the process is retrospective and next sprint planning. At this time, the team will review what they did in the previous project, acknowledge what worked and didn’t work for them, and apply these findings to the current and future development and planning. </a:t>
            </a:r>
            <a:endParaRPr lang="en-US" b="1" dirty="0"/>
          </a:p>
        </p:txBody>
      </p:sp>
    </p:spTree>
    <p:extLst>
      <p:ext uri="{BB962C8B-B14F-4D97-AF65-F5344CB8AC3E}">
        <p14:creationId xmlns:p14="http://schemas.microsoft.com/office/powerpoint/2010/main" val="1129063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BD881-3582-41D1-BF5C-C3105D2EB7DA}"/>
              </a:ext>
            </a:extLst>
          </p:cNvPr>
          <p:cNvSpPr>
            <a:spLocks noGrp="1"/>
          </p:cNvSpPr>
          <p:nvPr>
            <p:ph type="title"/>
          </p:nvPr>
        </p:nvSpPr>
        <p:spPr>
          <a:xfrm>
            <a:off x="1311215" y="120770"/>
            <a:ext cx="9514936" cy="845388"/>
          </a:xfrm>
        </p:spPr>
        <p:txBody>
          <a:bodyPr>
            <a:normAutofit/>
          </a:bodyPr>
          <a:lstStyle/>
          <a:p>
            <a:r>
              <a:rPr lang="en-US" sz="2400" dirty="0"/>
              <a:t>Difference and Similarity Of Agile Development approach and Waterfall Development approach.  </a:t>
            </a:r>
          </a:p>
        </p:txBody>
      </p:sp>
      <p:graphicFrame>
        <p:nvGraphicFramePr>
          <p:cNvPr id="4" name="Table 4">
            <a:extLst>
              <a:ext uri="{FF2B5EF4-FFF2-40B4-BE49-F238E27FC236}">
                <a16:creationId xmlns:a16="http://schemas.microsoft.com/office/drawing/2014/main" id="{9876D56F-9B81-4016-8409-7BD114BD7A67}"/>
              </a:ext>
            </a:extLst>
          </p:cNvPr>
          <p:cNvGraphicFramePr>
            <a:graphicFrameLocks noGrp="1"/>
          </p:cNvGraphicFramePr>
          <p:nvPr>
            <p:ph idx="1"/>
            <p:extLst>
              <p:ext uri="{D42A27DB-BD31-4B8C-83A1-F6EECF244321}">
                <p14:modId xmlns:p14="http://schemas.microsoft.com/office/powerpoint/2010/main" val="4061440303"/>
              </p:ext>
            </p:extLst>
          </p:nvPr>
        </p:nvGraphicFramePr>
        <p:xfrm>
          <a:off x="1365849" y="899464"/>
          <a:ext cx="8863641" cy="5614592"/>
        </p:xfrm>
        <a:graphic>
          <a:graphicData uri="http://schemas.openxmlformats.org/drawingml/2006/table">
            <a:tbl>
              <a:tblPr firstRow="1" bandRow="1">
                <a:tableStyleId>{5C22544A-7EE6-4342-B048-85BDC9FD1C3A}</a:tableStyleId>
              </a:tblPr>
              <a:tblGrid>
                <a:gridCol w="2333445">
                  <a:extLst>
                    <a:ext uri="{9D8B030D-6E8A-4147-A177-3AD203B41FA5}">
                      <a16:colId xmlns:a16="http://schemas.microsoft.com/office/drawing/2014/main" val="3833248090"/>
                    </a:ext>
                  </a:extLst>
                </a:gridCol>
                <a:gridCol w="3562710">
                  <a:extLst>
                    <a:ext uri="{9D8B030D-6E8A-4147-A177-3AD203B41FA5}">
                      <a16:colId xmlns:a16="http://schemas.microsoft.com/office/drawing/2014/main" val="117290147"/>
                    </a:ext>
                  </a:extLst>
                </a:gridCol>
                <a:gridCol w="2967486">
                  <a:extLst>
                    <a:ext uri="{9D8B030D-6E8A-4147-A177-3AD203B41FA5}">
                      <a16:colId xmlns:a16="http://schemas.microsoft.com/office/drawing/2014/main" val="2361102384"/>
                    </a:ext>
                  </a:extLst>
                </a:gridCol>
              </a:tblGrid>
              <a:tr h="334113">
                <a:tc>
                  <a:txBody>
                    <a:bodyPr/>
                    <a:lstStyle/>
                    <a:p>
                      <a:endParaRPr lang="en-US" dirty="0"/>
                    </a:p>
                  </a:txBody>
                  <a:tcPr/>
                </a:tc>
                <a:tc>
                  <a:txBody>
                    <a:bodyPr/>
                    <a:lstStyle/>
                    <a:p>
                      <a:r>
                        <a:rPr lang="en-US" dirty="0"/>
                        <a:t>Agile</a:t>
                      </a:r>
                    </a:p>
                  </a:txBody>
                  <a:tcPr/>
                </a:tc>
                <a:tc>
                  <a:txBody>
                    <a:bodyPr/>
                    <a:lstStyle/>
                    <a:p>
                      <a:r>
                        <a:rPr lang="en-US" dirty="0"/>
                        <a:t>Waterfall</a:t>
                      </a:r>
                    </a:p>
                  </a:txBody>
                  <a:tcPr/>
                </a:tc>
                <a:extLst>
                  <a:ext uri="{0D108BD9-81ED-4DB2-BD59-A6C34878D82A}">
                    <a16:rowId xmlns:a16="http://schemas.microsoft.com/office/drawing/2014/main" val="2441554692"/>
                  </a:ext>
                </a:extLst>
              </a:tr>
              <a:tr h="876161">
                <a:tc>
                  <a:txBody>
                    <a:bodyPr/>
                    <a:lstStyle/>
                    <a:p>
                      <a:r>
                        <a:rPr lang="en-US" dirty="0"/>
                        <a:t>Able to adapt to a new requirement and specification</a:t>
                      </a:r>
                    </a:p>
                  </a:txBody>
                  <a:tcPr/>
                </a:tc>
                <a:tc>
                  <a:txBody>
                    <a:bodyPr/>
                    <a:lstStyle/>
                    <a:p>
                      <a:r>
                        <a:rPr lang="en-US" dirty="0"/>
                        <a:t>Does this very well</a:t>
                      </a:r>
                    </a:p>
                  </a:txBody>
                  <a:tcPr/>
                </a:tc>
                <a:tc>
                  <a:txBody>
                    <a:bodyPr/>
                    <a:lstStyle/>
                    <a:p>
                      <a:r>
                        <a:rPr lang="en-US" dirty="0"/>
                        <a:t>Unlike</a:t>
                      </a:r>
                      <a:r>
                        <a:rPr lang="en-US" baseline="0" dirty="0"/>
                        <a:t> agile process, it is difficult to include new requirement</a:t>
                      </a:r>
                      <a:endParaRPr lang="en-US" dirty="0"/>
                    </a:p>
                  </a:txBody>
                  <a:tcPr/>
                </a:tc>
                <a:extLst>
                  <a:ext uri="{0D108BD9-81ED-4DB2-BD59-A6C34878D82A}">
                    <a16:rowId xmlns:a16="http://schemas.microsoft.com/office/drawing/2014/main" val="2923219190"/>
                  </a:ext>
                </a:extLst>
              </a:tr>
              <a:tr h="613312">
                <a:tc>
                  <a:txBody>
                    <a:bodyPr/>
                    <a:lstStyle/>
                    <a:p>
                      <a:r>
                        <a:rPr lang="en-US" dirty="0"/>
                        <a:t>Produce more release quicker</a:t>
                      </a:r>
                    </a:p>
                  </a:txBody>
                  <a:tcPr/>
                </a:tc>
                <a:tc>
                  <a:txBody>
                    <a:bodyPr/>
                    <a:lstStyle/>
                    <a:p>
                      <a:r>
                        <a:rPr lang="en-US" dirty="0"/>
                        <a:t>More release are produced due to its continuous iteration</a:t>
                      </a:r>
                    </a:p>
                  </a:txBody>
                  <a:tcPr/>
                </a:tc>
                <a:tc>
                  <a:txBody>
                    <a:bodyPr/>
                    <a:lstStyle/>
                    <a:p>
                      <a:r>
                        <a:rPr lang="en-US" dirty="0"/>
                        <a:t>Takes time to produce one release</a:t>
                      </a:r>
                    </a:p>
                  </a:txBody>
                  <a:tcPr/>
                </a:tc>
                <a:extLst>
                  <a:ext uri="{0D108BD9-81ED-4DB2-BD59-A6C34878D82A}">
                    <a16:rowId xmlns:a16="http://schemas.microsoft.com/office/drawing/2014/main" val="3341363998"/>
                  </a:ext>
                </a:extLst>
              </a:tr>
              <a:tr h="842789">
                <a:tc>
                  <a:txBody>
                    <a:bodyPr/>
                    <a:lstStyle/>
                    <a:p>
                      <a:r>
                        <a:rPr lang="en-US" dirty="0"/>
                        <a:t>Collaboration</a:t>
                      </a:r>
                    </a:p>
                  </a:txBody>
                  <a:tcPr/>
                </a:tc>
                <a:tc>
                  <a:txBody>
                    <a:bodyPr/>
                    <a:lstStyle/>
                    <a:p>
                      <a:r>
                        <a:rPr lang="en-US" dirty="0"/>
                        <a:t>Agile supports open and honest collaboration among them. </a:t>
                      </a:r>
                    </a:p>
                  </a:txBody>
                  <a:tcPr/>
                </a:tc>
                <a:tc>
                  <a:txBody>
                    <a:bodyPr/>
                    <a:lstStyle/>
                    <a:p>
                      <a:r>
                        <a:rPr lang="en-US" dirty="0"/>
                        <a:t>Waterfall supports collaboration, but difficult to cope with errors</a:t>
                      </a:r>
                    </a:p>
                  </a:txBody>
                  <a:tcPr/>
                </a:tc>
                <a:extLst>
                  <a:ext uri="{0D108BD9-81ED-4DB2-BD59-A6C34878D82A}">
                    <a16:rowId xmlns:a16="http://schemas.microsoft.com/office/drawing/2014/main" val="422102952"/>
                  </a:ext>
                </a:extLst>
              </a:tr>
              <a:tr h="1139008">
                <a:tc>
                  <a:txBody>
                    <a:bodyPr/>
                    <a:lstStyle/>
                    <a:p>
                      <a:r>
                        <a:rPr lang="en-US" dirty="0"/>
                        <a:t>Frequent communication</a:t>
                      </a:r>
                    </a:p>
                  </a:txBody>
                  <a:tcPr/>
                </a:tc>
                <a:tc>
                  <a:txBody>
                    <a:bodyPr/>
                    <a:lstStyle/>
                    <a:p>
                      <a:r>
                        <a:rPr lang="en-US" dirty="0"/>
                        <a:t>Agile process is developed based on the principle of frequent and short meeting among the team members</a:t>
                      </a:r>
                    </a:p>
                  </a:txBody>
                  <a:tcPr/>
                </a:tc>
                <a:tc>
                  <a:txBody>
                    <a:bodyPr/>
                    <a:lstStyle/>
                    <a:p>
                      <a:r>
                        <a:rPr lang="en-US" dirty="0"/>
                        <a:t>Water method allow communication, but not as frequent as it is in Agile method. </a:t>
                      </a:r>
                    </a:p>
                  </a:txBody>
                  <a:tcPr/>
                </a:tc>
                <a:extLst>
                  <a:ext uri="{0D108BD9-81ED-4DB2-BD59-A6C34878D82A}">
                    <a16:rowId xmlns:a16="http://schemas.microsoft.com/office/drawing/2014/main" val="3813645709"/>
                  </a:ext>
                </a:extLst>
              </a:tr>
              <a:tr h="1176051">
                <a:tc>
                  <a:txBody>
                    <a:bodyPr/>
                    <a:lstStyle/>
                    <a:p>
                      <a:r>
                        <a:rPr lang="en-US" dirty="0"/>
                        <a:t>Time management </a:t>
                      </a:r>
                    </a:p>
                  </a:txBody>
                  <a:tcPr/>
                </a:tc>
                <a:tc>
                  <a:txBody>
                    <a:bodyPr/>
                    <a:lstStyle/>
                    <a:p>
                      <a:r>
                        <a:rPr lang="en-US" dirty="0"/>
                        <a:t>Time is divided and managed in a way that every team member gets a chance to express their role production process and product. </a:t>
                      </a:r>
                    </a:p>
                  </a:txBody>
                  <a:tcPr/>
                </a:tc>
                <a:tc>
                  <a:txBody>
                    <a:bodyPr/>
                    <a:lstStyle/>
                    <a:p>
                      <a:r>
                        <a:rPr lang="en-US" dirty="0"/>
                        <a:t>Focused more on completing the over all project</a:t>
                      </a:r>
                    </a:p>
                  </a:txBody>
                  <a:tcPr/>
                </a:tc>
                <a:extLst>
                  <a:ext uri="{0D108BD9-81ED-4DB2-BD59-A6C34878D82A}">
                    <a16:rowId xmlns:a16="http://schemas.microsoft.com/office/drawing/2014/main" val="181673652"/>
                  </a:ext>
                </a:extLst>
              </a:tr>
              <a:tr h="402512">
                <a:tc>
                  <a:txBody>
                    <a:bodyPr/>
                    <a:lstStyle/>
                    <a:p>
                      <a:r>
                        <a:rPr lang="en-US" dirty="0"/>
                        <a:t>Flexibility </a:t>
                      </a:r>
                    </a:p>
                  </a:txBody>
                  <a:tcPr/>
                </a:tc>
                <a:tc>
                  <a:txBody>
                    <a:bodyPr/>
                    <a:lstStyle/>
                    <a:p>
                      <a:r>
                        <a:rPr lang="en-US" dirty="0"/>
                        <a:t>Flexible</a:t>
                      </a:r>
                    </a:p>
                  </a:txBody>
                  <a:tcPr/>
                </a:tc>
                <a:tc>
                  <a:txBody>
                    <a:bodyPr/>
                    <a:lstStyle/>
                    <a:p>
                      <a:r>
                        <a:rPr lang="en-US" dirty="0"/>
                        <a:t>Not very flexible</a:t>
                      </a:r>
                    </a:p>
                  </a:txBody>
                  <a:tcPr/>
                </a:tc>
                <a:extLst>
                  <a:ext uri="{0D108BD9-81ED-4DB2-BD59-A6C34878D82A}">
                    <a16:rowId xmlns:a16="http://schemas.microsoft.com/office/drawing/2014/main" val="1091169136"/>
                  </a:ext>
                </a:extLst>
              </a:tr>
            </a:tbl>
          </a:graphicData>
        </a:graphic>
      </p:graphicFrame>
    </p:spTree>
    <p:extLst>
      <p:ext uri="{BB962C8B-B14F-4D97-AF65-F5344CB8AC3E}">
        <p14:creationId xmlns:p14="http://schemas.microsoft.com/office/powerpoint/2010/main" val="1478728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7D1F-6C67-47F5-BBC5-926E791ED5C2}"/>
              </a:ext>
            </a:extLst>
          </p:cNvPr>
          <p:cNvSpPr>
            <a:spLocks noGrp="1"/>
          </p:cNvSpPr>
          <p:nvPr>
            <p:ph type="title"/>
          </p:nvPr>
        </p:nvSpPr>
        <p:spPr/>
        <p:txBody>
          <a:bodyPr>
            <a:normAutofit fontScale="90000"/>
          </a:bodyPr>
          <a:lstStyle/>
          <a:p>
            <a:r>
              <a:rPr lang="en-US" dirty="0"/>
              <a:t>Factors to consider when choosing a waterfall approach or an agile approach </a:t>
            </a:r>
            <a:br>
              <a:rPr lang="en-US" dirty="0"/>
            </a:br>
            <a:endParaRPr lang="en-US" dirty="0"/>
          </a:p>
        </p:txBody>
      </p:sp>
      <p:sp>
        <p:nvSpPr>
          <p:cNvPr id="3" name="Content Placeholder 2">
            <a:extLst>
              <a:ext uri="{FF2B5EF4-FFF2-40B4-BE49-F238E27FC236}">
                <a16:creationId xmlns:a16="http://schemas.microsoft.com/office/drawing/2014/main" id="{49DCF3D5-42DC-4720-AA19-6F06CA54EEDE}"/>
              </a:ext>
            </a:extLst>
          </p:cNvPr>
          <p:cNvSpPr>
            <a:spLocks noGrp="1"/>
          </p:cNvSpPr>
          <p:nvPr>
            <p:ph idx="1"/>
          </p:nvPr>
        </p:nvSpPr>
        <p:spPr/>
        <p:txBody>
          <a:bodyPr/>
          <a:lstStyle/>
          <a:p>
            <a:r>
              <a:rPr lang="en-US" b="1" dirty="0"/>
              <a:t>Waterfall approach: </a:t>
            </a:r>
            <a:r>
              <a:rPr lang="en-US" dirty="0"/>
              <a:t>the waterfall development method would work best when dealing with a more complex project that carries a lot of dependencies. However, it does not support project iteration, continuous integration, and continuous delivery very well. </a:t>
            </a:r>
          </a:p>
          <a:p>
            <a:pPr marL="0" indent="0">
              <a:buNone/>
            </a:pPr>
            <a:endParaRPr lang="en-US" dirty="0"/>
          </a:p>
          <a:p>
            <a:r>
              <a:rPr lang="en-US" b="1" dirty="0"/>
              <a:t>Agile approach:  </a:t>
            </a:r>
            <a:r>
              <a:rPr lang="en-US" dirty="0"/>
              <a:t>Agile development method supports project iteration very well; it uses its continuous integration and continuous delivery process to effectively tune and perfect a project to a delivery. The agile process breaks a project into parts and assigns them according to the time and number of engineers it will take to complete.   </a:t>
            </a:r>
            <a:endParaRPr lang="en-US" b="1" dirty="0"/>
          </a:p>
        </p:txBody>
      </p:sp>
    </p:spTree>
    <p:extLst>
      <p:ext uri="{BB962C8B-B14F-4D97-AF65-F5344CB8AC3E}">
        <p14:creationId xmlns:p14="http://schemas.microsoft.com/office/powerpoint/2010/main" val="2910923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4E94E-08B4-4D59-8B77-1F97AAC595D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F4AE2D6-6D85-4573-A1A3-B5CB246555CE}"/>
              </a:ext>
            </a:extLst>
          </p:cNvPr>
          <p:cNvSpPr>
            <a:spLocks noGrp="1"/>
          </p:cNvSpPr>
          <p:nvPr>
            <p:ph idx="1"/>
          </p:nvPr>
        </p:nvSpPr>
        <p:spPr/>
        <p:txBody>
          <a:bodyPr/>
          <a:lstStyle/>
          <a:p>
            <a:r>
              <a:rPr lang="en-US" dirty="0" err="1"/>
              <a:t>Gurendo</a:t>
            </a:r>
            <a:r>
              <a:rPr lang="en-US" dirty="0"/>
              <a:t>, Dmitry. “Scrum Methodology Phases Which Help in Agile SDLC Process: 5 Key Steps.” XB Software, 28 Jan. 2021, xbsoftware.com/blog/software-development-life-cycle-</a:t>
            </a:r>
            <a:r>
              <a:rPr lang="en-US" dirty="0" err="1"/>
              <a:t>sdlc</a:t>
            </a:r>
            <a:r>
              <a:rPr lang="en-US" dirty="0"/>
              <a:t>-</a:t>
            </a:r>
            <a:r>
              <a:rPr lang="en-US" dirty="0" err="1"/>
              <a:t>scrumstep</a:t>
            </a:r>
            <a:r>
              <a:rPr lang="en-US" dirty="0"/>
              <a:t>-step/. </a:t>
            </a:r>
          </a:p>
          <a:p>
            <a:endParaRPr lang="en-US" dirty="0"/>
          </a:p>
          <a:p>
            <a:r>
              <a:rPr lang="en-US" dirty="0"/>
              <a:t>West, Dave. “Agile Scrum Roles.” Atlassian, www.atlassian.com/agile/scrum/roles. </a:t>
            </a:r>
          </a:p>
        </p:txBody>
      </p:sp>
    </p:spTree>
    <p:extLst>
      <p:ext uri="{BB962C8B-B14F-4D97-AF65-F5344CB8AC3E}">
        <p14:creationId xmlns:p14="http://schemas.microsoft.com/office/powerpoint/2010/main" val="3598567214"/>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docProps/app.xml><?xml version="1.0" encoding="utf-8"?>
<Properties xmlns="http://schemas.openxmlformats.org/officeDocument/2006/extended-properties" xmlns:vt="http://schemas.openxmlformats.org/officeDocument/2006/docPropsVTypes">
  <Template>Mod overlay</Template>
  <TotalTime>200</TotalTime>
  <Words>643</Words>
  <Application>Microsoft Office PowerPoint</Application>
  <PresentationFormat>Widescreen</PresentationFormat>
  <Paragraphs>48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Arial Nova Light</vt:lpstr>
      <vt:lpstr>Elephant</vt:lpstr>
      <vt:lpstr>ModOverlayVTI</vt:lpstr>
      <vt:lpstr>Agile Presentation</vt:lpstr>
      <vt:lpstr>Various Roles of a Scrum Team</vt:lpstr>
      <vt:lpstr>Software Development Life Cycle:- Agile Method </vt:lpstr>
      <vt:lpstr>Difference and Similarity Of Agile Development approach and Waterfall Development approach.  </vt:lpstr>
      <vt:lpstr>Factors to consider when choosing a waterfall approach or an agile approach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Presentation</dc:title>
  <dc:creator>Kennedy Uzoho</dc:creator>
  <cp:lastModifiedBy>Kennedy Uzoho</cp:lastModifiedBy>
  <cp:revision>2</cp:revision>
  <dcterms:created xsi:type="dcterms:W3CDTF">2021-12-13T00:27:33Z</dcterms:created>
  <dcterms:modified xsi:type="dcterms:W3CDTF">2021-12-13T03:48:25Z</dcterms:modified>
</cp:coreProperties>
</file>